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DM Sans SemiBold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B8DE1B-4A09-40FD-A4C3-44B230A79A3A}">
  <a:tblStyle styleId="{82B8DE1B-4A09-40FD-A4C3-44B230A79A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DMSansSemiBold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DMSansSemiBold-italic.fntdata"/><Relationship Id="rId23" Type="http://schemas.openxmlformats.org/officeDocument/2006/relationships/font" Target="fonts/DM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DMSansSemiBold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5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a514bfb3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a514bfb34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a514bf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a514bfb3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a514bfb34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a514bfb3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a514bfb34_0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a514bfb34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a514bfb34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a514bfb3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0" Type="http://schemas.openxmlformats.org/officeDocument/2006/relationships/image" Target="../media/image16.png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5" Type="http://schemas.openxmlformats.org/officeDocument/2006/relationships/image" Target="../media/image31.png"/><Relationship Id="rId6" Type="http://schemas.openxmlformats.org/officeDocument/2006/relationships/image" Target="../media/image35.png"/><Relationship Id="rId7" Type="http://schemas.openxmlformats.org/officeDocument/2006/relationships/image" Target="../media/image19.png"/><Relationship Id="rId8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0" Type="http://schemas.openxmlformats.org/officeDocument/2006/relationships/image" Target="../media/image22.png"/><Relationship Id="rId9" Type="http://schemas.openxmlformats.org/officeDocument/2006/relationships/image" Target="../media/image29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11" Type="http://schemas.openxmlformats.org/officeDocument/2006/relationships/image" Target="../media/image33.png"/><Relationship Id="rId10" Type="http://schemas.openxmlformats.org/officeDocument/2006/relationships/image" Target="../media/image41.png"/><Relationship Id="rId9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48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36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24000"/>
            <a:ext cx="51339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5550" y="1543050"/>
            <a:ext cx="50958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71525" y="6486525"/>
            <a:ext cx="1247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Relatório Técnico v1.0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705975" y="648652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Engenharia da Computação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1853207"/>
            <a:ext cx="53906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ARQUITETURA DE COMPUTADORES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2196107"/>
            <a:ext cx="5390673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Simulador de Pipeline MIPS-Lite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3437929"/>
            <a:ext cx="51339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Modelagem de baixo nível de um processador de 5 estágios estruturado em Linguagem C.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71525" y="4628554"/>
            <a:ext cx="5133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Universidade Federal do Maranhão (UFMA) • Junho de 2025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71525" y="4238029"/>
            <a:ext cx="5133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Amanda Jorge | Cauã Barros | Salomão Dias</a:t>
            </a:r>
            <a:endParaRPr/>
          </a:p>
        </p:txBody>
      </p:sp>
      <p:pic>
        <p:nvPicPr>
          <p:cNvPr descr="image.png" id="95" name="Google Shape;9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66604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24887" y="2534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7329487" y="3134915"/>
            <a:ext cx="304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MIPS-Lite Core Diagram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329487" y="3439715"/>
            <a:ext cx="3048000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Espaço reservado para o diagrama de blocos do datapath (ex: referência do arquivo Simulador_de_Pipeline_MIPS-Lite_Arquitetura_e_Implementação.pptx).</a:t>
            </a:r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05550" y="1712500"/>
            <a:ext cx="5185400" cy="32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55490"/>
            <a:ext cx="5133975" cy="2220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3200" y="3434506"/>
            <a:ext cx="4629150" cy="8038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914400" y="485775"/>
            <a:ext cx="1103137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ARQUITETURA DE MÓDULOS EM C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71525" y="485775"/>
            <a:ext cx="47625" cy="37713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6486525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MIPS-Lite Pipeline Simulator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39300" y="6486525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Organização de Código em C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71525" y="2255490"/>
            <a:ext cx="53906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Divisão de Responsabilidade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71525" y="268411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O simulador foi particionado em arquivos de cabeçalho e módulos dedicados para simular com fidelidade as barreiras do circuito físico: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57275" y="3331815"/>
            <a:ext cx="4848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types.h: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Centralização global das structs que definem os barramentos e buffers do pipeline.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57275" y="3874740"/>
            <a:ext cx="4848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memory.c/.h: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Encapsulamento estático das memórias e banco de registradores com inicialização de reset.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57275" y="4417665"/>
            <a:ext cx="48482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pipeline.c: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Alocador físico das instâncias dos buffers temporários.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57275" y="4746277"/>
            <a:ext cx="48482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stages.c/.h: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Lógica executável dos 5 estágios síncronos.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553200" y="2493615"/>
            <a:ext cx="486060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Mapeamento Físico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53200" y="2865090"/>
            <a:ext cx="46291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 estruturação de dados em C segue o padrão exato descrito no livro-texto clássico de </a:t>
            </a:r>
            <a:r>
              <a:rPr b="0" i="1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Patterson &amp; Hennessy</a:t>
            </a: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3200" y="254124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365152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390807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4451002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525" y="4779615"/>
            <a:ext cx="1524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49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327820"/>
            <a:ext cx="339729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424" y="2327820"/>
            <a:ext cx="339729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3324" y="2327820"/>
            <a:ext cx="339729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Sincronismo por Latches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71525" y="581025"/>
            <a:ext cx="47700" cy="39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71525" y="6486525"/>
            <a:ext cx="1676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Sincronismo por Clock Latch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677400" y="6486525"/>
            <a:ext cx="17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Buffer Temporal de 5 Estágios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460500" y="2618325"/>
            <a:ext cx="238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Desafio Temporal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09650" y="3199357"/>
            <a:ext cx="292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Em hardware real, os 5 estágios rodam de forma concorrente no mesmo ciclo de clock. No software sequencial em C, uma execução direta sobrescreveria de imediato os dados do estágio seguinte.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120375" y="2646425"/>
            <a:ext cx="238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Estratégia Old/New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635549" y="3160045"/>
            <a:ext cx="2921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Implementamos duplicidade para cada barramento de registrador: instâncias `_old` e `_new` (ex: `IF_ID_old` e `IF_ID_new`). Cada estágio lê estritamente de `_old` e escreve no buffer `_new`.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636800" y="2646425"/>
            <a:ext cx="2872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Atualização Simultânea</a:t>
            </a:r>
            <a:endParaRPr sz="1200"/>
          </a:p>
        </p:txBody>
      </p:sp>
      <p:sp>
        <p:nvSpPr>
          <p:cNvPr id="143" name="Google Shape;143;p15"/>
          <p:cNvSpPr txBox="1"/>
          <p:nvPr/>
        </p:nvSpPr>
        <p:spPr>
          <a:xfrm>
            <a:off x="8261449" y="3199357"/>
            <a:ext cx="292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 função `pipeline_registers_update()` sincroniza os registradores ao fim do ciclo, copiando os estados de `_new` para `_old`. Isso simula com perfeição o comportamento síncrono do clock.</a:t>
            </a:r>
            <a:endParaRPr/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61357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5549" y="261357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1449" y="261357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8002"/>
            <a:ext cx="5133975" cy="1190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279302"/>
            <a:ext cx="513397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860452"/>
            <a:ext cx="51339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14400" y="485775"/>
            <a:ext cx="1103137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LOOP DE ORQUESTRAÇÃO DO SIMULADOR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771525" y="485775"/>
            <a:ext cx="47625" cy="37713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771525" y="6486525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MIPS-Lite Pipeline Simulator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096500" y="6486525"/>
            <a:ext cx="1323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Fluxo de Orquestração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71525" y="2279302"/>
            <a:ext cx="53906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Ordem de Execução Inversa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71525" y="2707927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Para evitar as antidependências de registradores no código de simulação, a função main() invoca os estágios de trás para frente: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524625" y="2517427"/>
            <a:ext cx="489061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Desacoplamento por JSON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524625" y="2831752"/>
            <a:ext cx="46577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O simulador em C serializa seu estado em formato JSON por meio do módulo io.c. A interface Python apenas lê este log padronizado para renderizar as métricas ciclo a ciclo.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524625" y="4098577"/>
            <a:ext cx="489061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 de Controle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524625" y="4412902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Controle granular de depuração implementado por meio de comandos de terminal interativo como next (passo a passo), run_all e reset.</a:t>
            </a:r>
            <a:endParaRPr/>
          </a:p>
        </p:txBody>
      </p:sp>
      <p:pic>
        <p:nvPicPr>
          <p:cNvPr descr="image.png" id="166" name="Google Shape;16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55552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136677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607915"/>
            <a:ext cx="3727102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14400" y="485775"/>
            <a:ext cx="1103137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RESOLUÇÃO DE HAZARDS: LOAD-USE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71525" y="485775"/>
            <a:ext cx="47625" cy="37713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71525" y="6486525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MIPS-Lite Pipeline Simulator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420225" y="6486525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Tratamento de Hazards de Dados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81075" y="3007965"/>
            <a:ext cx="3308002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81075" y="4150965"/>
            <a:ext cx="33080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4F5F6"/>
                </a:solidFill>
                <a:latin typeface="Times"/>
                <a:ea typeface="Times"/>
                <a:cs typeface="Times"/>
                <a:sym typeface="Times"/>
              </a:rPr>
              <a:t>STALL DE CICLO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879627" y="2312640"/>
            <a:ext cx="68678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Detecção Algorítmica de Conflitos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4879627" y="2741265"/>
            <a:ext cx="65408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Quando uma instrução subsequente a um Load (LW) tenta ler de imediato o registrador destino, o pipeline é obrigado a parar por 1 ciclo por conta do atraso da leitura de memória.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165377" y="3388965"/>
            <a:ext cx="62550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Condição de Conflito: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Detecta se EX_MEM_old.MemRead está ativo e se o registrador de destino coincide com rs ou rt em IF_ID_old.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165377" y="3931890"/>
            <a:ext cx="62550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Injeção de Bubble (NOP):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Zera os sinais de controle de escrita no buffer ID_EX_new para impedir efeitos colaterais.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5165377" y="4474815"/>
            <a:ext cx="62550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Congelamento de PC: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Mantém o Program Counter inalterado durante o ciclo para reexecutar o Fetch corretamente.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9627" y="342230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79627" y="396522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9627" y="450815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49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327820"/>
            <a:ext cx="339729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424" y="2327820"/>
            <a:ext cx="339729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3324" y="2327820"/>
            <a:ext cx="339729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Unidade de Forwarding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71525" y="581025"/>
            <a:ext cx="47700" cy="39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71525" y="6486525"/>
            <a:ext cx="198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Resolução de Dependências RAW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429750" y="6486525"/>
            <a:ext cx="199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Minimização Dinâmica de Bolhas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502300" y="2646425"/>
            <a:ext cx="226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Encaminhamento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009650" y="3134970"/>
            <a:ext cx="2921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O simulador implementa atalhos para os operandos `rs` e `rt` em tempo de execução, enviando o dado gerado na ULA ou memória diretamente para a entrada da ULA do próximo estágio sem esperar o ciclo de Write Back.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067350" y="2618325"/>
            <a:ext cx="190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Atalho EX/MEM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4635549" y="3085057"/>
            <a:ext cx="2921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Se a instrução anterior no estágio `EX/MEM` for escrever no banco (`RegWrite`) e o destino coincidir com o registrador fonte de `ID/EX`, a ULA desvia o resultado de `alu_result` instantaneamente como operando.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793200" y="2618325"/>
            <a:ext cx="193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Atalho MEM/WB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261449" y="3134970"/>
            <a:ext cx="2921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Se a dependência ocorrer com duas instruções de diferença, o encaminhamento vem do estágio `MEM/WB`. Avalia-se o flag `MemtoReg` para buscar o dado correto lido da memória ou calculado pela ULA.</a:t>
            </a:r>
            <a:endParaRPr/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61357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5549" y="261357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1449" y="2613570"/>
            <a:ext cx="3905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4525" y="2284075"/>
            <a:ext cx="3997925" cy="276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4525" y="2284075"/>
            <a:ext cx="3997925" cy="27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914400" y="485775"/>
            <a:ext cx="1103137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HAZARDS E PIPELINE FLUSH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71525" y="485775"/>
            <a:ext cx="47625" cy="37713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771525" y="6486525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MIPS-Lite Pipeline Simulator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0191750" y="6486525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Conflitos de Controle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771525" y="1855440"/>
            <a:ext cx="53906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B4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Penalidade de Branch de 2 Ciclos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771525" y="228406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 decisão de salto condicional em instruções BEQ é computada e tomada no estágio de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Execução (EX)</a:t>
            </a: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. Isto gera desvios do fluxo sequencial: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057238" y="3105015"/>
            <a:ext cx="48483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Execução Especulativa: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 processador continua buscando instruções nos endereços sequenciais enquanto a ULA decide a igualdade de registradores.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057238" y="3890965"/>
            <a:ext cx="4848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Esvaziamento Síncrono (Flush):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Ao confirmar o salto, o processador descarta as instruções pendentes nos buffers IF_ID_new e ID_EX_new.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57263" y="4505090"/>
            <a:ext cx="4848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Redirecionamento: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PC é recarregado com o destino correto.</a:t>
            </a:r>
            <a:endParaRPr/>
          </a:p>
        </p:txBody>
      </p:sp>
      <p:pic>
        <p:nvPicPr>
          <p:cNvPr descr="image.png" id="228" name="Google Shape;22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6312" y="286628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6877050" y="3466355"/>
            <a:ext cx="3952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Visualização do Log de Execução (Terminal)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877050" y="3771155"/>
            <a:ext cx="30480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Espaço reservado para print de execução de </a:t>
            </a:r>
            <a:r>
              <a:rPr lang="en-US" sz="97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simulador.exe,</a:t>
            </a:r>
            <a:r>
              <a:rPr b="0" i="0" lang="en-US" sz="975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evidenciando o flush síncrono da instrução descartada no estágio BEQ (como em image_95ca53.png).</a:t>
            </a:r>
            <a:endParaRPr/>
          </a:p>
        </p:txBody>
      </p:sp>
      <p:pic>
        <p:nvPicPr>
          <p:cNvPr descr="image.png" id="231" name="Google Shape;23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488" y="313835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488" y="392430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13" y="4538428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/>
          <p:cNvPicPr preferRelativeResize="0"/>
          <p:nvPr/>
        </p:nvPicPr>
        <p:blipFill rotWithShape="1">
          <a:blip r:embed="rId11">
            <a:alphaModFix/>
          </a:blip>
          <a:srcRect b="0" l="21760" r="16856" t="23465"/>
          <a:stretch/>
        </p:blipFill>
        <p:spPr>
          <a:xfrm>
            <a:off x="6232638" y="1496112"/>
            <a:ext cx="5241699" cy="35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381750"/>
            <a:ext cx="10648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9358" y="1426461"/>
            <a:ext cx="4411116" cy="1224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9358" y="3705969"/>
            <a:ext cx="4411116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28408" y="3725019"/>
            <a:ext cx="4373016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914400" y="485775"/>
            <a:ext cx="1103137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DE DESEMPENHO E RESULTADOS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771525" y="485775"/>
            <a:ext cx="47625" cy="37713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771525" y="6486525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MIPS-Lite Pipeline Simulator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9925050" y="6486525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Conclusão e Diagnóstico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266533" y="1664586"/>
            <a:ext cx="3915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Consistência do Estado Final: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266533" y="1893186"/>
            <a:ext cx="3915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• $t0 = 10 | $t1 = 0x100 | $s0 = 10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• $t2 = 10 | $t3 = 15 | $s1 = 0 (Flush)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• mem[0x100] = 10 (Escrita confirmada em SW)</a:t>
            </a:r>
            <a:endParaRPr/>
          </a:p>
        </p:txBody>
      </p:sp>
      <p:pic>
        <p:nvPicPr>
          <p:cNvPr descr="image.png" id="250" name="Google Shape;25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29117" y="4044553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7781329" y="4320778"/>
            <a:ext cx="28670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Registradores Finais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7781329" y="4554140"/>
            <a:ext cx="2867025" cy="14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Mapeamento físico correspondente aos prints do terminal.</a:t>
            </a:r>
            <a:endParaRPr/>
          </a:p>
        </p:txBody>
      </p:sp>
      <p:pic>
        <p:nvPicPr>
          <p:cNvPr id="253" name="Google Shape;25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09350" y="2821025"/>
            <a:ext cx="4411125" cy="31580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" name="Google Shape;254;p20"/>
          <p:cNvGraphicFramePr/>
          <p:nvPr/>
        </p:nvGraphicFramePr>
        <p:xfrm>
          <a:off x="781050" y="1826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{82B8DE1B-4A09-40FD-A4C3-44B230A79A3A}</a:tableStyleId>
              </a:tblPr>
              <a:tblGrid>
                <a:gridCol w="2482450"/>
                <a:gridCol w="1204475"/>
                <a:gridCol w="2150875"/>
              </a:tblGrid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B4D8"/>
                          </a:solidFill>
                          <a:latin typeface="DM Sans SemiBold"/>
                          <a:ea typeface="DM Sans SemiBold"/>
                          <a:cs typeface="DM Sans SemiBold"/>
                          <a:sym typeface="DM Sans SemiBold"/>
                        </a:rPr>
                        <a:t>Métrica Logada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B4D8"/>
                          </a:solidFill>
                          <a:latin typeface="DM Sans SemiBold"/>
                          <a:ea typeface="DM Sans SemiBold"/>
                          <a:cs typeface="DM Sans SemiBold"/>
                          <a:sym typeface="DM Sans SemiBold"/>
                        </a:rPr>
                        <a:t>Valor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B4D8"/>
                          </a:solidFill>
                          <a:latin typeface="DM Sans SemiBold"/>
                          <a:ea typeface="DM Sans SemiBold"/>
                          <a:cs typeface="DM Sans SemiBold"/>
                          <a:sym typeface="DM Sans SemiBold"/>
                        </a:rPr>
                        <a:t>Status de Validação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A30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Ciclos Totais de Clock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 Ciclos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Consolidado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342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Instruções Reais Executadas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 Instruções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Validado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342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IPC (Instruções por Ciclo)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0.46 IPC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Esperado para Hazards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342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Stalls Detectados (Load-Use)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 Ocorrência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Tratado com Sucesso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342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Flushes Executados (Branch)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 Ocorrência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Tratado com Sucesso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342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300" y="865424"/>
            <a:ext cx="9535398" cy="512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088" y="799100"/>
            <a:ext cx="9565824" cy="536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838" y="804885"/>
            <a:ext cx="9808323" cy="524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